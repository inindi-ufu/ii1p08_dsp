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1" r:id="rId4"/>
    <p:sldId id="263" r:id="rId5"/>
    <p:sldId id="280" r:id="rId6"/>
    <p:sldId id="282" r:id="rId7"/>
    <p:sldId id="265" r:id="rId8"/>
    <p:sldId id="267" r:id="rId9"/>
    <p:sldId id="278" r:id="rId10"/>
    <p:sldId id="271" r:id="rId11"/>
    <p:sldId id="284" r:id="rId12"/>
    <p:sldId id="286" r:id="rId13"/>
    <p:sldId id="273" r:id="rId14"/>
    <p:sldId id="275" r:id="rId15"/>
    <p:sldId id="277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DF86B-B73A-854F-36E4-1EFA6C03E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CC1715-0111-CB6F-BB58-BAD537CDB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50EC5-FC69-7A2A-B307-FEF296F6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B04B-2661-4321-BCAF-53863388040E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CC1DD-226F-D5A6-CFA1-226BC2BBC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451066-7354-7F9E-88B1-9E3AACDF1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174A-CB5C-4BA7-942D-69F5F74B6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042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35A9A-75C5-4D68-D3BA-EA362F931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2FD1A1-7C82-D31E-B055-3C56B4016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4971D5-9F64-E328-215D-8A793BED8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B04B-2661-4321-BCAF-53863388040E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511F08-F7EF-F59C-7A8E-06C37D7EE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3238E9B-712C-21ED-3F91-4B08C0B40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174A-CB5C-4BA7-942D-69F5F74B6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2689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E73AE-A6E3-D201-967A-975E65122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98E393-1ED5-F622-1062-8EB907D0F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1972FBE-1C45-D0FE-3F2E-A0BA060EC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B04B-2661-4321-BCAF-53863388040E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05C041-4427-2945-3CA5-54038D4A0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465C945-1E1E-6147-8E52-5A1D5494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174A-CB5C-4BA7-942D-69F5F74B6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1778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08ABF7-4A57-92A9-90EF-1D2F4911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FE7316-50BE-5671-916F-C1B27BEAA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B7A13C-E64F-4903-4BA0-2797D7B7BD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DDA6F9E-B858-7C9B-C52D-F020040FA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B04B-2661-4321-BCAF-53863388040E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95160F-7ED2-0011-2EEB-439D50CD6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57F3943-E04A-3C47-0745-B60D2901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174A-CB5C-4BA7-942D-69F5F74B6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3246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A1894-6DE0-B0E6-B97D-DA0E399D8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4B82B2-C086-81E4-0A5D-AFF13DEE1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B45B91-490B-B51F-1070-A39B147FA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7E6EADC-564C-3ABE-0610-E69932FAC4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79DD532-310B-4A7B-6EFE-8C506C2B5A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98E5874-92A3-E06C-6E56-AA66E98C7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B04B-2661-4321-BCAF-53863388040E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8DA556D-8A19-15AD-AE67-AF0F00DCD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010319A-0D3C-E5D4-8643-76967E81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174A-CB5C-4BA7-942D-69F5F74B6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410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DB4436-081A-E1CF-DB24-7A3993A73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B475AE-AEC4-595A-C0B1-90B260F9C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B04B-2661-4321-BCAF-53863388040E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4B8265B-503D-075A-71A4-E882CE052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B12AB53-2992-E782-3440-A03F2270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174A-CB5C-4BA7-942D-69F5F74B6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0405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168F51-204E-7F8B-277B-78C0426EE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B04B-2661-4321-BCAF-53863388040E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A2F5CD4-2216-0D30-8ACF-1504CE07D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0DF1AED-BD74-33AF-662D-6C84084AE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174A-CB5C-4BA7-942D-69F5F74B6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979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DD824-1F72-BA50-CD01-120DD23E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E47B2F-12AF-9428-8465-152D1A487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738C312-A465-CB99-FF7B-3A1B07C713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0CDB9F4-4B70-60BB-4537-AA5963237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B04B-2661-4321-BCAF-53863388040E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C61309-8484-8949-C2F6-9A00C36B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9A670B-E165-1775-8C69-E65D2DAB4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174A-CB5C-4BA7-942D-69F5F74B6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5554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E0557-256A-1C5C-24DA-DB4D04669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F6C4BDE-70FC-302A-BCFE-75F7FF13C2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B9CB37-4B4C-7920-4123-FE39606B4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E1DC03-4935-FB94-17F6-E187E196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B04B-2661-4321-BCAF-53863388040E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0CD91E-9484-17FE-9E37-708AD8CA6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C83E971-8DE4-1697-1AB1-BF541C3A1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174A-CB5C-4BA7-942D-69F5F74B6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074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04A20-AB92-6D18-016B-1858F0F81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6B7132C-AE76-C55E-137A-0AD1506A9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DB1090-1103-2282-21D5-CD60B66F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B04B-2661-4321-BCAF-53863388040E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70AD87-8FA7-2467-E40D-C9AE62DAF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A40510-3FEF-62D1-56FE-E0991512A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174A-CB5C-4BA7-942D-69F5F74B6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274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FBE358-F5B9-CBEE-CFD4-CC5826A218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266606-6015-FAF5-BAEA-2B0FC4B7A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3836F6-96BF-A37D-7CC6-BEFE3887A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B04B-2661-4321-BCAF-53863388040E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A419F9-DA82-0A2A-B11B-2A6423EEF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47574E-BF64-F31A-0BE0-7984A576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7174A-CB5C-4BA7-942D-69F5F74B6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226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966BECC-C225-8EA4-99F4-64C6FA6B3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EB37B5-6A3D-A797-6D06-6FF9F1BC5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B44D17-C866-A2A3-31B8-3F51403151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EB04B-2661-4321-BCAF-53863388040E}" type="datetimeFigureOut">
              <a:rPr lang="pt-BR" smtClean="0"/>
              <a:t>24/06/2026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3A0FAC-A60C-3FD0-3F87-A999DD682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B596BD-556E-B960-AAC9-FFF1A9D2D0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77174A-CB5C-4BA7-942D-69F5F74B6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370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3D394-6D2B-C1CC-3781-AA7E872D4E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 sz="4000" b="1" dirty="0">
                <a:solidFill>
                  <a:srgbClr val="156082"/>
                </a:solidFill>
              </a:rPr>
              <a:t>Projeto de Filtros e Escolha da Frequência de Amostragem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ECE9FF-4776-E03C-2DDF-066611D0C1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pt-BR" sz="2000" dirty="0">
                <a:solidFill>
                  <a:srgbClr val="404040"/>
                </a:solidFill>
              </a:rPr>
              <a:t>Do filtro anti-aliasing analógico à definição de fs e ao filtro IIR digital em biquads</a:t>
            </a:r>
          </a:p>
        </p:txBody>
      </p:sp>
    </p:spTree>
    <p:extLst>
      <p:ext uri="{BB962C8B-B14F-4D97-AF65-F5344CB8AC3E}">
        <p14:creationId xmlns:p14="http://schemas.microsoft.com/office/powerpoint/2010/main" val="1380656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3458CA-4E88-0ADA-EFD4-8136272BF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>
                <a:solidFill>
                  <a:srgbClr val="156082"/>
                </a:solidFill>
              </a:rPr>
              <a:t>O problema: aliasing e o teorema de Nyquist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D2F5A0-D764-72DF-4269-CB52A179C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0" indent="-457200">
              <a:spcBef>
                <a:spcPts val="600"/>
              </a:spcBef>
              <a:buFont typeface="Arial"/>
              <a:buChar char="•"/>
            </a:pPr>
            <a:r>
              <a:rPr lang="pt-BR" sz="2000" b="0" dirty="0"/>
              <a:t>Para amostrar um sinal sem distorção, a frequência de amostragem fs deve ser maior que o dobro da maior frequência presente no sinal.</a:t>
            </a:r>
          </a:p>
          <a:p>
            <a:pPr marL="457200" lvl="1" indent="-457200">
              <a:buFont typeface="Arial"/>
              <a:buChar char="–"/>
            </a:pPr>
            <a:r>
              <a:rPr lang="pt-BR" sz="1800" i="1" dirty="0">
                <a:solidFill>
                  <a:srgbClr val="156082"/>
                </a:solidFill>
              </a:rPr>
              <a:t>fs &gt; 2 · f_máx   (frequência de Nyquist = fs/2)</a:t>
            </a:r>
          </a:p>
          <a:p>
            <a:pPr marL="457200" lvl="0" indent="-457200">
              <a:spcBef>
                <a:spcPts val="600"/>
              </a:spcBef>
              <a:buFont typeface="Arial"/>
              <a:buChar char="•"/>
            </a:pPr>
            <a:r>
              <a:rPr lang="pt-BR" sz="2000" b="0" dirty="0"/>
              <a:t>Se houver energia acima de fs/2, ela "dobra" para dentro da banda útil e se mistura ao sinal — isso é o aliasing, e não tem como desfazer depois.</a:t>
            </a:r>
          </a:p>
          <a:p>
            <a:pPr marL="457200" lvl="0" indent="-457200">
              <a:spcBef>
                <a:spcPts val="600"/>
              </a:spcBef>
              <a:buFont typeface="Arial"/>
              <a:buChar char="•"/>
            </a:pPr>
            <a:r>
              <a:rPr lang="pt-BR" sz="2000" b="1" dirty="0"/>
              <a:t>Solução: um filtro analógico passa-baixa antes do ADC — o filtro anti-aliasing — que atenua tudo acima da banda de interesse.</a:t>
            </a:r>
          </a:p>
          <a:p>
            <a:pPr marL="457200" lvl="0" indent="-457200">
              <a:spcBef>
                <a:spcPts val="600"/>
              </a:spcBef>
              <a:buFont typeface="Arial"/>
              <a:buChar char="•"/>
            </a:pPr>
            <a:r>
              <a:rPr lang="pt-BR" sz="2000" b="0" dirty="0"/>
              <a:t>A pergunta central: quanto vale fs? Ela sai da especificação do anti-aliasing, não de um chute.</a:t>
            </a:r>
          </a:p>
        </p:txBody>
      </p:sp>
    </p:spTree>
    <p:extLst>
      <p:ext uri="{BB962C8B-B14F-4D97-AF65-F5344CB8AC3E}">
        <p14:creationId xmlns:p14="http://schemas.microsoft.com/office/powerpoint/2010/main" val="1615636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77C8C-EEB1-9290-E5A7-376B855DB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>
                <a:solidFill>
                  <a:srgbClr val="156082"/>
                </a:solidFill>
              </a:rPr>
              <a:t>Dois scripts, dois domínios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75891-868D-4DFF-DAC5-C05E8B51F8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pt-BR" sz="2000" b="1" dirty="0">
                <a:solidFill>
                  <a:srgbClr val="156082"/>
                </a:solidFill>
              </a:rPr>
              <a:t>findAnalogFilterByTargetFreq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lang="pt-BR" sz="1700" dirty="0"/>
              <a:t>Filtro ANALÓGICO Butterworth.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lang="pt-BR" sz="1700" dirty="0"/>
              <a:t>Vive ANTES do conversor A/D.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lang="pt-BR" sz="1700" dirty="0"/>
              <a:t>É o filtro anti-aliasing físico (resistores e capacitores).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lang="pt-BR" sz="1700" dirty="0"/>
              <a:t>Entrega a frequência de corte e a frequência complementar que definem fs.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lang="pt-BR" sz="1700" dirty="0"/>
              <a:t>Exemplo: dimensiona um Sallen-Key (calcula o capacitor).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C3B4FF-9157-592B-4648-20F13F6770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pt-BR" sz="2000" b="1" dirty="0">
                <a:solidFill>
                  <a:srgbClr val="E97132"/>
                </a:solidFill>
              </a:rPr>
              <a:t>findDigitalFilterIIRBiquadsByTargetFreq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lang="pt-BR" sz="1700" dirty="0"/>
              <a:t>Filtro DIGITAL IIR Butterworth.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lang="pt-BR" sz="1700" dirty="0"/>
              <a:t>Vive DEPOIS da amostragem, dentro do DSP/microcontrolador.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lang="pt-BR" sz="1700" dirty="0"/>
              <a:t>Já recebe fs como parâmetro de entrada.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lang="pt-BR" sz="1700" dirty="0"/>
              <a:t>Entrega seções biquad (SOS) prontas.</a:t>
            </a:r>
          </a:p>
          <a:p>
            <a:pPr marL="342900" indent="-342900">
              <a:spcBef>
                <a:spcPts val="500"/>
              </a:spcBef>
              <a:buFont typeface="Arial"/>
              <a:buChar char="•"/>
            </a:pPr>
            <a:r>
              <a:rPr lang="pt-BR" sz="1700" dirty="0"/>
              <a:t>Exporta coeficientes em C para Direct Form II Transposto.</a:t>
            </a:r>
          </a:p>
        </p:txBody>
      </p:sp>
    </p:spTree>
    <p:extLst>
      <p:ext uri="{BB962C8B-B14F-4D97-AF65-F5344CB8AC3E}">
        <p14:creationId xmlns:p14="http://schemas.microsoft.com/office/powerpoint/2010/main" val="3796219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357DDC-099D-5C49-240B-7A6A6701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000" b="1" dirty="0">
                <a:solidFill>
                  <a:srgbClr val="156082"/>
                </a:solidFill>
              </a:rPr>
              <a:t>findAnalogFilterByTargetFreq — o que faz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77293F-8877-3C0E-8E9C-5C0268643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buNone/>
            </a:pPr>
            <a:r>
              <a:rPr lang="pt-BR" sz="1900" b="1" dirty="0">
                <a:solidFill>
                  <a:srgbClr val="156082"/>
                </a:solidFill>
              </a:rPr>
              <a:t>Ideia: você diz onde quer uma certa atenuação; ele acha o corte do filtro.</a:t>
            </a:r>
          </a:p>
          <a:p>
            <a:pPr>
              <a:spcBef>
                <a:spcPts val="400"/>
              </a:spcBef>
              <a:buNone/>
            </a:pPr>
            <a:r>
              <a:rPr lang="pt-BR" sz="1900" b="1" dirty="0">
                <a:solidFill>
                  <a:srgbClr val="156082"/>
                </a:solidFill>
              </a:rPr>
              <a:t>Parâmetros de entrada</a:t>
            </a:r>
          </a:p>
          <a:p>
            <a:pPr marL="800100" lvl="1" indent="-342900">
              <a:spcBef>
                <a:spcPts val="300"/>
              </a:spcBef>
              <a:buFont typeface="Arial"/>
              <a:buChar char="–"/>
            </a:pPr>
            <a:r>
              <a:rPr lang="pt-BR" sz="1500" dirty="0"/>
              <a:t>fDesejada — a frequência que te interessa (Hz).</a:t>
            </a:r>
          </a:p>
          <a:p>
            <a:pPr marL="800100" lvl="1" indent="-342900">
              <a:spcBef>
                <a:spcPts val="300"/>
              </a:spcBef>
              <a:buFont typeface="Arial"/>
              <a:buChar char="–"/>
            </a:pPr>
            <a:r>
              <a:rPr lang="pt-BR" sz="1500" dirty="0"/>
              <a:t>ordem — ordem do Butterworth (quanto maior, mais íngreme).</a:t>
            </a:r>
          </a:p>
          <a:p>
            <a:pPr marL="800100" lvl="1" indent="-342900">
              <a:spcBef>
                <a:spcPts val="300"/>
              </a:spcBef>
              <a:buFont typeface="Arial"/>
              <a:buChar char="–"/>
            </a:pPr>
            <a:r>
              <a:rPr lang="pt-BR" sz="1500" dirty="0"/>
              <a:t>filterType — 'lowpass' (anti-aliasing) ou 'highpass'.</a:t>
            </a:r>
          </a:p>
          <a:p>
            <a:pPr marL="800100" lvl="1" indent="-342900">
              <a:spcBef>
                <a:spcPts val="300"/>
              </a:spcBef>
              <a:buFont typeface="Arial"/>
              <a:buChar char="–"/>
            </a:pPr>
            <a:r>
              <a:rPr lang="pt-BR" sz="1500" dirty="0"/>
              <a:t>desvio — folga de magnitude permitida (ex.: 0,05 = 5%).</a:t>
            </a:r>
          </a:p>
          <a:p>
            <a:pPr marL="800100" lvl="1" indent="-342900">
              <a:spcBef>
                <a:spcPts val="300"/>
              </a:spcBef>
              <a:buFont typeface="Arial"/>
              <a:buChar char="–"/>
            </a:pPr>
            <a:r>
              <a:rPr lang="pt-BR" sz="1500" dirty="0"/>
              <a:t>isBP — True: fDesejada está na banda de passagem; False: na de rejeição.</a:t>
            </a:r>
          </a:p>
          <a:p>
            <a:pPr>
              <a:spcBef>
                <a:spcPts val="400"/>
              </a:spcBef>
              <a:buNone/>
            </a:pPr>
            <a:r>
              <a:rPr lang="pt-BR" sz="1900" b="1" dirty="0">
                <a:solidFill>
                  <a:srgbClr val="156082"/>
                </a:solidFill>
              </a:rPr>
              <a:t>Como calcula (Butterworth)</a:t>
            </a:r>
          </a:p>
          <a:p>
            <a:pPr marL="800100" lvl="1" indent="-342900">
              <a:spcBef>
                <a:spcPts val="300"/>
              </a:spcBef>
              <a:buFont typeface="Arial"/>
              <a:buChar char="–"/>
            </a:pPr>
            <a:r>
              <a:rPr lang="pt-BR" sz="1500" dirty="0"/>
              <a:t>Magnitude alvo: M = 1 − desvio (se passagem) ou desvio (se rejeição).</a:t>
            </a:r>
          </a:p>
          <a:p>
            <a:pPr marL="800100" lvl="1" indent="-342900">
              <a:spcBef>
                <a:spcPts val="300"/>
              </a:spcBef>
              <a:buFont typeface="Arial"/>
              <a:buChar char="–"/>
            </a:pPr>
            <a:r>
              <a:rPr lang="pt-BR" sz="1500" dirty="0"/>
              <a:t>Fator A = ((1/M²) − 1)^(1/2·ordem); corte: ωc = ωd / A (passa-baixa).</a:t>
            </a:r>
          </a:p>
        </p:txBody>
      </p:sp>
    </p:spTree>
    <p:extLst>
      <p:ext uri="{BB962C8B-B14F-4D97-AF65-F5344CB8AC3E}">
        <p14:creationId xmlns:p14="http://schemas.microsoft.com/office/powerpoint/2010/main" val="3455460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E93805-D398-B9B0-42E2-5330D373E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>
                <a:solidFill>
                  <a:srgbClr val="156082"/>
                </a:solidFill>
              </a:rPr>
              <a:t>Princípio analógico (1/2): a resposta de Butterworth</a:t>
            </a:r>
          </a:p>
        </p:txBody>
      </p:sp>
      <p:sp>
        <p:nvSpPr>
          <p:cNvPr id="200" name="formulaCard"/>
          <p:cNvSpPr/>
          <p:nvPr/>
        </p:nvSpPr>
        <p:spPr>
          <a:xfrm>
            <a:off x="1016000" y="2006600"/>
            <a:ext cx="10160000" cy="1676400"/>
          </a:xfrm>
          <a:prstGeom prst="roundRect">
            <a:avLst>
              <a:gd name="adj" fmla="val 8000"/>
            </a:avLst>
          </a:prstGeom>
          <a:solidFill>
            <a:srgbClr val="E9F1F4"/>
          </a:solidFill>
          <a:ln w="12700">
            <a:solidFill>
              <a:srgbClr val="156082"/>
            </a:solidFill>
          </a:ln>
        </p:spPr>
        <p:txBody>
          <a:bodyPr wrap="square" lIns="137160" tIns="73152" rIns="137160" bIns="73152" anchor="ctr"/>
          <a:lstStyle/>
          <a:p>
            <a:pPr algn="ctr"/>
            <a:r>
              <a:rPr lang="pt-BR" sz="2400" dirty="0">
                <a:solidFill>
                  <a:srgbClr val="1A1A1A"/>
                </a:solidFill>
              </a:rPr>
              <a:t>| H(ω) |  =  1 / √( 1 + ( ω / ω</a:t>
            </a:r>
            <a:r>
              <a:rPr lang="pt-BR" sz="1600" baseline="-25000" dirty="0">
                <a:solidFill>
                  <a:srgbClr val="1A1A1A"/>
                </a:solidFill>
              </a:rPr>
              <a:t>c</a:t>
            </a:r>
            <a:r>
              <a:rPr lang="pt-BR" sz="2400" dirty="0">
                <a:solidFill>
                  <a:srgbClr val="1A1A1A"/>
                </a:solidFill>
              </a:rPr>
              <a:t> )</a:t>
            </a:r>
            <a:r>
              <a:rPr lang="pt-BR" sz="1600" baseline="30000" dirty="0">
                <a:solidFill>
                  <a:srgbClr val="1A1A1A"/>
                </a:solidFill>
              </a:rPr>
              <a:t>2n</a:t>
            </a:r>
            <a:r>
              <a:rPr lang="pt-BR" sz="2400" dirty="0">
                <a:solidFill>
                  <a:srgbClr val="1A1A1A"/>
                </a:solidFill>
              </a:rPr>
              <a:t> )</a:t>
            </a:r>
          </a:p>
        </p:txBody>
      </p:sp>
      <p:sp>
        <p:nvSpPr>
          <p:cNvPr id="201" name="explica"/>
          <p:cNvSpPr/>
          <p:nvPr/>
        </p:nvSpPr>
        <p:spPr>
          <a:xfrm>
            <a:off x="1016000" y="3962400"/>
            <a:ext cx="10160000" cy="2540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137160" tIns="73152" rIns="137160" bIns="73152" anchor="t"/>
          <a:lstStyle/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ω</a:t>
            </a:r>
            <a:r>
              <a:rPr lang="pt-BR" sz="1100" baseline="-25000" dirty="0">
                <a:solidFill>
                  <a:srgbClr val="262626"/>
                </a:solidFill>
              </a:rPr>
              <a:t>c</a:t>
            </a:r>
            <a:r>
              <a:rPr lang="pt-BR" sz="1600" dirty="0">
                <a:solidFill>
                  <a:srgbClr val="262626"/>
                </a:solidFill>
              </a:rPr>
              <a:t> é a frequência de corte e n é a ordem do filtro.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Quanto maior a ordem n, mais abrupta é a transição entre passar e rejeitar.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Em ω = ω</a:t>
            </a:r>
            <a:r>
              <a:rPr lang="pt-BR" sz="1100" baseline="-25000" dirty="0">
                <a:solidFill>
                  <a:srgbClr val="262626"/>
                </a:solidFill>
              </a:rPr>
              <a:t>c</a:t>
            </a:r>
            <a:r>
              <a:rPr lang="pt-BR" sz="1600" dirty="0">
                <a:solidFill>
                  <a:srgbClr val="262626"/>
                </a:solidFill>
              </a:rPr>
              <a:t> a magnitude vale sempre 1/√2 ≈ 0,707 (−3 dB).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No passa-alta, basta trocar ω/ω</a:t>
            </a:r>
            <a:r>
              <a:rPr lang="pt-BR" sz="1100" baseline="-25000" dirty="0">
                <a:solidFill>
                  <a:srgbClr val="262626"/>
                </a:solidFill>
              </a:rPr>
              <a:t>c</a:t>
            </a:r>
            <a:r>
              <a:rPr lang="pt-BR" sz="1600" dirty="0">
                <a:solidFill>
                  <a:srgbClr val="262626"/>
                </a:solidFill>
              </a:rPr>
              <a:t> por ω</a:t>
            </a:r>
            <a:r>
              <a:rPr lang="pt-BR" sz="1100" baseline="-25000" dirty="0">
                <a:solidFill>
                  <a:srgbClr val="262626"/>
                </a:solidFill>
              </a:rPr>
              <a:t>c</a:t>
            </a:r>
            <a:r>
              <a:rPr lang="pt-BR" sz="1600" dirty="0">
                <a:solidFill>
                  <a:srgbClr val="262626"/>
                </a:solidFill>
              </a:rPr>
              <a:t>/ω.</a:t>
            </a:r>
          </a:p>
        </p:txBody>
      </p:sp>
    </p:spTree>
    <p:extLst>
      <p:ext uri="{BB962C8B-B14F-4D97-AF65-F5344CB8AC3E}">
        <p14:creationId xmlns:p14="http://schemas.microsoft.com/office/powerpoint/2010/main" val="900523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41A11-3F2D-579F-7796-8E0FBFC73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>
                <a:solidFill>
                  <a:srgbClr val="156082"/>
                </a:solidFill>
              </a:rPr>
              <a:t>Princípio analógico (2/2): isolando a frequência de corte</a:t>
            </a:r>
          </a:p>
        </p:txBody>
      </p:sp>
      <p:sp>
        <p:nvSpPr>
          <p:cNvPr id="200" name="formulaCard"/>
          <p:cNvSpPr/>
          <p:nvPr/>
        </p:nvSpPr>
        <p:spPr>
          <a:xfrm>
            <a:off x="889000" y="1905000"/>
            <a:ext cx="10414000" cy="2413000"/>
          </a:xfrm>
          <a:prstGeom prst="roundRect">
            <a:avLst>
              <a:gd name="adj" fmla="val 8000"/>
            </a:avLst>
          </a:prstGeom>
          <a:solidFill>
            <a:srgbClr val="E9F1F4"/>
          </a:solidFill>
          <a:ln w="12700">
            <a:solidFill>
              <a:srgbClr val="156082"/>
            </a:solidFill>
          </a:ln>
        </p:spPr>
        <p:txBody>
          <a:bodyPr wrap="square" lIns="137160" tIns="73152" rIns="137160" bIns="73152" anchor="ctr"/>
          <a:lstStyle/>
          <a:p>
            <a:pPr algn="ctr">
              <a:spcBef>
                <a:spcPts val="400"/>
              </a:spcBef>
            </a:pPr>
            <a:r>
              <a:rPr lang="pt-BR" sz="2200" dirty="0">
                <a:solidFill>
                  <a:srgbClr val="1A1A1A"/>
                </a:solidFill>
              </a:rPr>
              <a:t>Impõe-se  | H(ω</a:t>
            </a:r>
            <a:r>
              <a:rPr lang="pt-BR" sz="1500" baseline="-25000" dirty="0">
                <a:solidFill>
                  <a:srgbClr val="1A1A1A"/>
                </a:solidFill>
              </a:rPr>
              <a:t>d</a:t>
            </a:r>
            <a:r>
              <a:rPr lang="pt-BR" sz="2200" dirty="0">
                <a:solidFill>
                  <a:srgbClr val="1A1A1A"/>
                </a:solidFill>
              </a:rPr>
              <a:t>) | = M    ⟹    1 / M</a:t>
            </a:r>
            <a:r>
              <a:rPr lang="pt-BR" sz="1500" baseline="30000" dirty="0">
                <a:solidFill>
                  <a:srgbClr val="1A1A1A"/>
                </a:solidFill>
              </a:rPr>
              <a:t>2</a:t>
            </a:r>
            <a:r>
              <a:rPr lang="pt-BR" sz="2200" dirty="0">
                <a:solidFill>
                  <a:srgbClr val="1A1A1A"/>
                </a:solidFill>
              </a:rPr>
              <a:t>  =  1 + ( ω</a:t>
            </a:r>
            <a:r>
              <a:rPr lang="pt-BR" sz="1500" baseline="-25000" dirty="0">
                <a:solidFill>
                  <a:srgbClr val="1A1A1A"/>
                </a:solidFill>
              </a:rPr>
              <a:t>d</a:t>
            </a:r>
            <a:r>
              <a:rPr lang="pt-BR" sz="2200" dirty="0">
                <a:solidFill>
                  <a:srgbClr val="1A1A1A"/>
                </a:solidFill>
              </a:rPr>
              <a:t> / ω</a:t>
            </a:r>
            <a:r>
              <a:rPr lang="pt-BR" sz="1500" baseline="-25000" dirty="0">
                <a:solidFill>
                  <a:srgbClr val="1A1A1A"/>
                </a:solidFill>
              </a:rPr>
              <a:t>c</a:t>
            </a:r>
            <a:r>
              <a:rPr lang="pt-BR" sz="2200" dirty="0">
                <a:solidFill>
                  <a:srgbClr val="1A1A1A"/>
                </a:solidFill>
              </a:rPr>
              <a:t> )</a:t>
            </a:r>
            <a:r>
              <a:rPr lang="pt-BR" sz="1500" baseline="30000" dirty="0">
                <a:solidFill>
                  <a:srgbClr val="1A1A1A"/>
                </a:solidFill>
              </a:rPr>
              <a:t>2n</a:t>
            </a:r>
          </a:p>
          <a:p>
            <a:pPr algn="ctr">
              <a:spcBef>
                <a:spcPts val="400"/>
              </a:spcBef>
            </a:pPr>
            <a:r>
              <a:rPr lang="pt-BR" sz="2400" b="1" dirty="0">
                <a:solidFill>
                  <a:srgbClr val="156082"/>
                </a:solidFill>
              </a:rPr>
              <a:t>A</a:t>
            </a:r>
            <a:r>
              <a:rPr lang="pt-BR" sz="2200" b="1" dirty="0">
                <a:solidFill>
                  <a:srgbClr val="156082"/>
                </a:solidFill>
              </a:rPr>
              <a:t>  =  ( 1 / M</a:t>
            </a:r>
            <a:r>
              <a:rPr lang="pt-BR" sz="1500" b="1" baseline="30000" dirty="0">
                <a:solidFill>
                  <a:srgbClr val="156082"/>
                </a:solidFill>
              </a:rPr>
              <a:t>2</a:t>
            </a:r>
            <a:r>
              <a:rPr lang="pt-BR" sz="2200" b="1" dirty="0">
                <a:solidFill>
                  <a:srgbClr val="156082"/>
                </a:solidFill>
              </a:rPr>
              <a:t>  −  1 )</a:t>
            </a:r>
            <a:r>
              <a:rPr lang="pt-BR" sz="1500" b="1" baseline="30000" dirty="0">
                <a:solidFill>
                  <a:srgbClr val="156082"/>
                </a:solidFill>
              </a:rPr>
              <a:t>1 / 2n</a:t>
            </a:r>
          </a:p>
          <a:p>
            <a:pPr algn="ctr">
              <a:spcBef>
                <a:spcPts val="400"/>
              </a:spcBef>
            </a:pPr>
            <a:r>
              <a:rPr lang="pt-BR" sz="2200" dirty="0">
                <a:solidFill>
                  <a:srgbClr val="1A1A1A"/>
                </a:solidFill>
              </a:rPr>
              <a:t>passa-baixa:  ω</a:t>
            </a:r>
            <a:r>
              <a:rPr lang="pt-BR" sz="1500" baseline="-25000" dirty="0">
                <a:solidFill>
                  <a:srgbClr val="1A1A1A"/>
                </a:solidFill>
              </a:rPr>
              <a:t>c</a:t>
            </a:r>
            <a:r>
              <a:rPr lang="pt-BR" sz="2200" dirty="0">
                <a:solidFill>
                  <a:srgbClr val="1A1A1A"/>
                </a:solidFill>
              </a:rPr>
              <a:t> = ω</a:t>
            </a:r>
            <a:r>
              <a:rPr lang="pt-BR" sz="1500" baseline="-25000" dirty="0">
                <a:solidFill>
                  <a:srgbClr val="1A1A1A"/>
                </a:solidFill>
              </a:rPr>
              <a:t>d</a:t>
            </a:r>
            <a:r>
              <a:rPr lang="pt-BR" sz="2200" dirty="0">
                <a:solidFill>
                  <a:srgbClr val="1A1A1A"/>
                </a:solidFill>
              </a:rPr>
              <a:t> / A        passa-alta:  ω</a:t>
            </a:r>
            <a:r>
              <a:rPr lang="pt-BR" sz="1500" baseline="-25000" dirty="0">
                <a:solidFill>
                  <a:srgbClr val="1A1A1A"/>
                </a:solidFill>
              </a:rPr>
              <a:t>c</a:t>
            </a:r>
            <a:r>
              <a:rPr lang="pt-BR" sz="2200" dirty="0">
                <a:solidFill>
                  <a:srgbClr val="1A1A1A"/>
                </a:solidFill>
              </a:rPr>
              <a:t> = ω</a:t>
            </a:r>
            <a:r>
              <a:rPr lang="pt-BR" sz="1500" baseline="-25000" dirty="0">
                <a:solidFill>
                  <a:srgbClr val="1A1A1A"/>
                </a:solidFill>
              </a:rPr>
              <a:t>d</a:t>
            </a:r>
            <a:r>
              <a:rPr lang="pt-BR" sz="2200" dirty="0">
                <a:solidFill>
                  <a:srgbClr val="1A1A1A"/>
                </a:solidFill>
              </a:rPr>
              <a:t> · A</a:t>
            </a:r>
          </a:p>
        </p:txBody>
      </p:sp>
      <p:sp>
        <p:nvSpPr>
          <p:cNvPr id="201" name="explica"/>
          <p:cNvSpPr/>
          <p:nvPr/>
        </p:nvSpPr>
        <p:spPr>
          <a:xfrm>
            <a:off x="889000" y="4470400"/>
            <a:ext cx="10414000" cy="20955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137160" tIns="73152" rIns="137160" bIns="73152" anchor="t"/>
          <a:lstStyle/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M é a magnitude desejada em ω</a:t>
            </a:r>
            <a:r>
              <a:rPr lang="pt-BR" sz="1100" baseline="-25000" dirty="0">
                <a:solidFill>
                  <a:srgbClr val="262626"/>
                </a:solidFill>
              </a:rPr>
              <a:t>d</a:t>
            </a:r>
            <a:r>
              <a:rPr lang="pt-BR" sz="1600" dirty="0">
                <a:solidFill>
                  <a:srgbClr val="262626"/>
                </a:solidFill>
              </a:rPr>
              <a:t>:  M = 1 − desvio (banda de passagem) ou M = desvio (rejeição).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A frequência complementar usa a magnitude oposta:  ω</a:t>
            </a:r>
            <a:r>
              <a:rPr lang="pt-BR" sz="1100" baseline="-25000" dirty="0">
                <a:solidFill>
                  <a:srgbClr val="262626"/>
                </a:solidFill>
              </a:rPr>
              <a:t>comp</a:t>
            </a:r>
            <a:r>
              <a:rPr lang="pt-BR" sz="1600" dirty="0">
                <a:solidFill>
                  <a:srgbClr val="262626"/>
                </a:solidFill>
              </a:rPr>
              <a:t> = ω</a:t>
            </a:r>
            <a:r>
              <a:rPr lang="pt-BR" sz="1100" baseline="-25000" dirty="0">
                <a:solidFill>
                  <a:srgbClr val="262626"/>
                </a:solidFill>
              </a:rPr>
              <a:t>c</a:t>
            </a:r>
            <a:r>
              <a:rPr lang="pt-BR" sz="1600" dirty="0">
                <a:solidFill>
                  <a:srgbClr val="262626"/>
                </a:solidFill>
              </a:rPr>
              <a:t> · A</a:t>
            </a:r>
            <a:r>
              <a:rPr lang="pt-BR" sz="1100" baseline="-25000" dirty="0">
                <a:solidFill>
                  <a:srgbClr val="262626"/>
                </a:solidFill>
              </a:rPr>
              <a:t>comp</a:t>
            </a:r>
            <a:r>
              <a:rPr lang="pt-BR" sz="1600" dirty="0">
                <a:solidFill>
                  <a:srgbClr val="262626"/>
                </a:solidFill>
              </a:rPr>
              <a:t>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É essa ω</a:t>
            </a:r>
            <a:r>
              <a:rPr lang="pt-BR" sz="1100" baseline="-25000" dirty="0">
                <a:solidFill>
                  <a:srgbClr val="262626"/>
                </a:solidFill>
              </a:rPr>
              <a:t>comp</a:t>
            </a:r>
            <a:r>
              <a:rPr lang="pt-BR" sz="1600" dirty="0">
                <a:solidFill>
                  <a:srgbClr val="262626"/>
                </a:solidFill>
              </a:rPr>
              <a:t> — onde o sinal já caiu ao nível tolerado — que vira f</a:t>
            </a:r>
            <a:r>
              <a:rPr lang="pt-BR" sz="1100" baseline="-25000" dirty="0">
                <a:solidFill>
                  <a:srgbClr val="262626"/>
                </a:solidFill>
              </a:rPr>
              <a:t>s</a:t>
            </a:r>
            <a:r>
              <a:rPr lang="pt-BR" sz="1600" dirty="0">
                <a:solidFill>
                  <a:srgbClr val="262626"/>
                </a:solidFill>
              </a:rPr>
              <a:t>/2.</a:t>
            </a:r>
          </a:p>
        </p:txBody>
      </p:sp>
    </p:spTree>
    <p:extLst>
      <p:ext uri="{BB962C8B-B14F-4D97-AF65-F5344CB8AC3E}">
        <p14:creationId xmlns:p14="http://schemas.microsoft.com/office/powerpoint/2010/main" val="552579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3978E-EFD3-952F-B067-860B3EFD2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000" b="1" dirty="0">
                <a:solidFill>
                  <a:srgbClr val="156082"/>
                </a:solidFill>
              </a:rPr>
              <a:t>As frequências que o script analógico devolve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550992-6178-D411-7AEF-97E945021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buNone/>
            </a:pPr>
            <a:r>
              <a:rPr lang="pt-BR" sz="1800" dirty="0"/>
              <a:t>O gráfico marca quatro frequências sobre a curva Butterworth (return: fc, freq_limite, f_complementar):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pt-BR" sz="1800" b="1" dirty="0">
                <a:solidFill>
                  <a:srgbClr val="B8860B"/>
                </a:solidFill>
              </a:rPr>
              <a:t>Frequência desejada (amarela): </a:t>
            </a:r>
            <a:r>
              <a:rPr lang="pt-BR" sz="1800" dirty="0"/>
              <a:t>a que você pediu — onde a magnitude vale o alvo M.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pt-BR" sz="1800" b="1" dirty="0">
                <a:solidFill>
                  <a:srgbClr val="196B24"/>
                </a:solidFill>
              </a:rPr>
              <a:t>Frequência de corte – fc (verde): </a:t>
            </a:r>
            <a:r>
              <a:rPr lang="pt-BR" sz="1800" dirty="0"/>
              <a:t>ωc/2π, o –3 dB do filtro; é o valor que você usa para projetar o circuito.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pt-BR" sz="1800" b="1" dirty="0">
                <a:solidFill>
                  <a:srgbClr val="C00000"/>
                </a:solidFill>
              </a:rPr>
              <a:t>Limite da banda (vermelha): </a:t>
            </a:r>
            <a:r>
              <a:rPr lang="pt-BR" sz="1800" dirty="0"/>
              <a:t>borda da banda de interesse (passagem ou rejeição).</a:t>
            </a:r>
          </a:p>
          <a:p>
            <a:pPr marL="342900" indent="-342900">
              <a:spcBef>
                <a:spcPts val="600"/>
              </a:spcBef>
              <a:buFont typeface="Arial"/>
              <a:buChar char="•"/>
            </a:pPr>
            <a:r>
              <a:rPr lang="pt-BR" sz="1800" b="1" dirty="0">
                <a:solidFill>
                  <a:srgbClr val="A02B93"/>
                </a:solidFill>
              </a:rPr>
              <a:t>Frequência complementar (roxa): </a:t>
            </a:r>
            <a:r>
              <a:rPr lang="pt-BR" sz="1800" dirty="0"/>
              <a:t>borda da banda OPOSTA — onde o sinal já está bem atenuado. É esta que vira fs/2.</a:t>
            </a:r>
          </a:p>
          <a:p>
            <a:pPr>
              <a:spcBef>
                <a:spcPts val="700"/>
              </a:spcBef>
              <a:buNone/>
            </a:pPr>
            <a:r>
              <a:rPr lang="pt-BR" sz="1700" i="1" dirty="0">
                <a:solidFill>
                  <a:srgbClr val="E97132"/>
                </a:solidFill>
              </a:rPr>
              <a:t>Guarde a frequência complementar (roxa): ela é a chave para definir fs.</a:t>
            </a:r>
          </a:p>
        </p:txBody>
      </p:sp>
    </p:spTree>
    <p:extLst>
      <p:ext uri="{BB962C8B-B14F-4D97-AF65-F5344CB8AC3E}">
        <p14:creationId xmlns:p14="http://schemas.microsoft.com/office/powerpoint/2010/main" val="73615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82F675-F715-2310-C749-CFD77A65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000" b="1" dirty="0">
                <a:solidFill>
                  <a:srgbClr val="156082"/>
                </a:solidFill>
              </a:rPr>
              <a:t>findAnalogFilterByTargetFreq — como usar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BC6573-34FB-7E83-0F43-CBF98EC2E2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00"/>
              </a:spcBef>
              <a:buNone/>
            </a:pPr>
            <a:r>
              <a:rPr lang="pt-BR" sz="1800" b="1" dirty="0">
                <a:solidFill>
                  <a:srgbClr val="156082"/>
                </a:solidFill>
              </a:rPr>
              <a:t>1) Chamar a função com a especificação do filtro</a:t>
            </a:r>
          </a:p>
          <a:p>
            <a:pPr marL="91440" indent="0">
              <a:buNone/>
            </a:pPr>
            <a:r>
              <a:rPr lang="pt-BR" sz="1500" dirty="0">
                <a:latin typeface="Consolas"/>
              </a:rPr>
              <a:t>fc, _, f_comp = findAnalogFilterByTargetFreq(</a:t>
            </a:r>
          </a:p>
          <a:p>
            <a:pPr marL="91440" indent="0">
              <a:buNone/>
            </a:pPr>
            <a:r>
              <a:rPr lang="pt-BR" sz="1500" dirty="0">
                <a:latin typeface="Consolas"/>
              </a:rPr>
              <a:t>    fDesejada=100,    # Hz que se quer preservar</a:t>
            </a:r>
          </a:p>
          <a:p>
            <a:pPr marL="91440" indent="0">
              <a:buNone/>
            </a:pPr>
            <a:r>
              <a:rPr lang="pt-BR" sz="1500" dirty="0">
                <a:latin typeface="Consolas"/>
              </a:rPr>
              <a:t>    ordem=2,</a:t>
            </a:r>
          </a:p>
          <a:p>
            <a:pPr marL="91440" indent="0">
              <a:buNone/>
            </a:pPr>
            <a:r>
              <a:rPr lang="pt-BR" sz="1500" dirty="0">
                <a:latin typeface="Consolas"/>
              </a:rPr>
              <a:t>    filterType='lowpass',</a:t>
            </a:r>
          </a:p>
          <a:p>
            <a:pPr marL="91440" indent="0">
              <a:buNone/>
            </a:pPr>
            <a:r>
              <a:rPr lang="pt-BR" sz="1500" dirty="0">
                <a:latin typeface="Consolas"/>
              </a:rPr>
              <a:t>    desvio=0.05,      # 5% de folga</a:t>
            </a:r>
          </a:p>
          <a:p>
            <a:pPr marL="91440" indent="0">
              <a:buNone/>
            </a:pPr>
            <a:r>
              <a:rPr lang="pt-BR" sz="1500" dirty="0">
                <a:latin typeface="Consolas"/>
              </a:rPr>
              <a:t>    isBP=True)        # 100 Hz na banda de passagem</a:t>
            </a:r>
          </a:p>
          <a:p>
            <a:pPr>
              <a:spcBef>
                <a:spcPts val="500"/>
              </a:spcBef>
              <a:buNone/>
            </a:pPr>
            <a:r>
              <a:rPr lang="pt-BR" sz="1800" b="1" dirty="0">
                <a:solidFill>
                  <a:srgbClr val="156082"/>
                </a:solidFill>
              </a:rPr>
              <a:t>2) Dimensionar o circuito (Sallen-Key) com fc</a:t>
            </a:r>
          </a:p>
          <a:p>
            <a:pPr marL="91440" indent="0">
              <a:buNone/>
            </a:pPr>
            <a:r>
              <a:rPr lang="pt-BR" sz="1500" dirty="0">
                <a:latin typeface="Consolas"/>
              </a:rPr>
              <a:t>R = 1000                       # 1 kΩ</a:t>
            </a:r>
          </a:p>
          <a:p>
            <a:pPr marL="91440" indent="0">
              <a:buNone/>
            </a:pPr>
            <a:r>
              <a:rPr lang="pt-BR" sz="1500" dirty="0">
                <a:latin typeface="Consolas"/>
              </a:rPr>
              <a:t>C = 1 / (2*pi*fc*R)            # capacitor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pt-BR" sz="1600" dirty="0"/>
              <a:t>Saídas no console: frequência de corte (fc), limite da banda e frequência complementar.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pt-BR" sz="1600" dirty="0"/>
              <a:t>Use fc para o hardware; guarde f_comp para o próximo passo (definir fs).</a:t>
            </a:r>
          </a:p>
        </p:txBody>
      </p:sp>
    </p:spTree>
    <p:extLst>
      <p:ext uri="{BB962C8B-B14F-4D97-AF65-F5344CB8AC3E}">
        <p14:creationId xmlns:p14="http://schemas.microsoft.com/office/powerpoint/2010/main" val="1816219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D82716-6C76-47FD-C72B-8AA09D5C8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000" b="1" dirty="0">
                <a:solidFill>
                  <a:srgbClr val="156082"/>
                </a:solidFill>
              </a:rPr>
              <a:t>O fluxo central: definir fs a partir do anti-aliasing</a:t>
            </a:r>
          </a:p>
        </p:txBody>
      </p:sp>
      <p:sp>
        <p:nvSpPr>
          <p:cNvPr id="100" name="box"/>
          <p:cNvSpPr/>
          <p:nvPr/>
        </p:nvSpPr>
        <p:spPr>
          <a:xfrm>
            <a:off x="508000" y="2095500"/>
            <a:ext cx="3175000" cy="1778000"/>
          </a:xfrm>
          <a:prstGeom prst="roundRect">
            <a:avLst>
              <a:gd name="adj" fmla="val 10000"/>
            </a:avLst>
          </a:prstGeom>
          <a:solidFill>
            <a:srgbClr val="156082"/>
          </a:solidFill>
          <a:ln>
            <a:noFill/>
          </a:ln>
        </p:spPr>
        <p:txBody>
          <a:bodyPr lIns="91440" tIns="46000" rIns="91440" bIns="46000" anchor="ctr"/>
          <a:lstStyle/>
          <a:p>
            <a:pPr algn="ctr"/>
            <a:r>
              <a:rPr lang="pt-BR" sz="1500" b="1" dirty="0">
                <a:solidFill>
                  <a:srgbClr val="FFFFFF"/>
                </a:solidFill>
              </a:rPr>
              <a:t>1. Especifique o anti-aliasing</a:t>
            </a:r>
          </a:p>
          <a:p>
            <a:pPr algn="ctr">
              <a:spcBef>
                <a:spcPts val="500"/>
              </a:spcBef>
            </a:pPr>
            <a:r>
              <a:rPr lang="pt-BR" sz="1400" dirty="0">
                <a:solidFill>
                  <a:srgbClr val="FFFFFF"/>
                </a:solidFill>
              </a:rPr>
              <a:t>Escolha a frequência do passa-baixa (fDesejada) e o desvio</a:t>
            </a:r>
          </a:p>
        </p:txBody>
      </p:sp>
      <p:sp>
        <p:nvSpPr>
          <p:cNvPr id="101" name="box"/>
          <p:cNvSpPr/>
          <p:nvPr/>
        </p:nvSpPr>
        <p:spPr>
          <a:xfrm>
            <a:off x="4508500" y="2095500"/>
            <a:ext cx="3175000" cy="17780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txBody>
          <a:bodyPr lIns="91440" tIns="46000" rIns="91440" bIns="46000" anchor="ctr"/>
          <a:lstStyle/>
          <a:p>
            <a:pPr algn="ctr"/>
            <a:r>
              <a:rPr lang="pt-BR" sz="1500" b="1" dirty="0">
                <a:solidFill>
                  <a:srgbClr val="FFFFFF"/>
                </a:solidFill>
              </a:rPr>
              <a:t>2. Rode o script analógico</a:t>
            </a:r>
          </a:p>
          <a:p>
            <a:pPr algn="ctr">
              <a:spcBef>
                <a:spcPts val="500"/>
              </a:spcBef>
            </a:pPr>
            <a:r>
              <a:rPr lang="pt-BR" sz="1400" dirty="0">
                <a:solidFill>
                  <a:srgbClr val="FFFFFF"/>
                </a:solidFill>
              </a:rPr>
              <a:t>Ele devolve a frequência complementar (banda já atenuada)</a:t>
            </a:r>
          </a:p>
        </p:txBody>
      </p:sp>
      <p:sp>
        <p:nvSpPr>
          <p:cNvPr id="102" name="box"/>
          <p:cNvSpPr/>
          <p:nvPr/>
        </p:nvSpPr>
        <p:spPr>
          <a:xfrm>
            <a:off x="8509000" y="2095500"/>
            <a:ext cx="3175000" cy="1778000"/>
          </a:xfrm>
          <a:prstGeom prst="roundRect">
            <a:avLst>
              <a:gd name="adj" fmla="val 10000"/>
            </a:avLst>
          </a:prstGeom>
          <a:solidFill>
            <a:srgbClr val="B5520F"/>
          </a:solidFill>
          <a:ln>
            <a:noFill/>
          </a:ln>
        </p:spPr>
        <p:txBody>
          <a:bodyPr lIns="91440" tIns="46000" rIns="91440" bIns="46000" anchor="ctr"/>
          <a:lstStyle/>
          <a:p>
            <a:pPr algn="ctr"/>
            <a:r>
              <a:rPr lang="pt-BR" sz="1500" b="1" dirty="0">
                <a:solidFill>
                  <a:srgbClr val="FFFFFF"/>
                </a:solidFill>
              </a:rPr>
              <a:t>3. Defina a amostragem</a:t>
            </a:r>
          </a:p>
          <a:p>
            <a:pPr algn="ctr">
              <a:spcBef>
                <a:spcPts val="500"/>
              </a:spcBef>
            </a:pPr>
            <a:r>
              <a:rPr lang="pt-BR" sz="1400" dirty="0">
                <a:solidFill>
                  <a:srgbClr val="FFFFFF"/>
                </a:solidFill>
              </a:rPr>
              <a:t>A complementar tem de cair em fs/2 (Nyquist)</a:t>
            </a:r>
          </a:p>
        </p:txBody>
      </p:sp>
      <p:sp>
        <p:nvSpPr>
          <p:cNvPr id="103" name="arr"/>
          <p:cNvSpPr/>
          <p:nvPr/>
        </p:nvSpPr>
        <p:spPr>
          <a:xfrm>
            <a:off x="3708400" y="2730500"/>
            <a:ext cx="774700" cy="5080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arr"/>
          <p:cNvSpPr/>
          <p:nvPr/>
        </p:nvSpPr>
        <p:spPr>
          <a:xfrm>
            <a:off x="7708900" y="2730500"/>
            <a:ext cx="774700" cy="5080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banner"/>
          <p:cNvSpPr/>
          <p:nvPr/>
        </p:nvSpPr>
        <p:spPr>
          <a:xfrm>
            <a:off x="508000" y="4572000"/>
            <a:ext cx="11176000" cy="1397000"/>
          </a:xfrm>
          <a:prstGeom prst="roundRect">
            <a:avLst>
              <a:gd name="adj" fmla="val 8000"/>
            </a:avLst>
          </a:prstGeom>
          <a:solidFill>
            <a:srgbClr val="0E2841"/>
          </a:solidFill>
          <a:ln>
            <a:noFill/>
          </a:ln>
        </p:spPr>
        <p:txBody>
          <a:bodyPr anchor="ctr"/>
          <a:lstStyle/>
          <a:p>
            <a:pPr algn="ctr"/>
            <a:r>
              <a:rPr lang="pt-BR" sz="3600" b="1" dirty="0">
                <a:solidFill>
                  <a:srgbClr val="FFFFFF"/>
                </a:solidFill>
              </a:rPr>
              <a:t>fs = 2 × frequência complementar</a:t>
            </a:r>
          </a:p>
        </p:txBody>
      </p:sp>
      <p:sp>
        <p:nvSpPr>
          <p:cNvPr id="106" name="cap"/>
          <p:cNvSpPr/>
          <p:nvPr/>
        </p:nvSpPr>
        <p:spPr>
          <a:xfrm>
            <a:off x="508000" y="6121400"/>
            <a:ext cx="111760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pt-BR" sz="1500" i="1" dirty="0">
                <a:solidFill>
                  <a:srgbClr val="404040"/>
                </a:solidFill>
              </a:rPr>
              <a:t>Garantir atenuação suficiente já em fs/2 é o que impede o aliasing.</a:t>
            </a:r>
          </a:p>
        </p:txBody>
      </p:sp>
    </p:spTree>
    <p:extLst>
      <p:ext uri="{BB962C8B-B14F-4D97-AF65-F5344CB8AC3E}">
        <p14:creationId xmlns:p14="http://schemas.microsoft.com/office/powerpoint/2010/main" val="4281762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1CBB95-2A9A-A4BC-BE1F-FF97D4AEA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>
                <a:solidFill>
                  <a:srgbClr val="E97132"/>
                </a:solidFill>
              </a:rPr>
              <a:t>findDigitalFilterIIRBiquadsByTargetFreq — o que faz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D03DFE-52FE-5B8D-F629-69FAD2FFA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400"/>
              </a:spcBef>
              <a:buNone/>
            </a:pPr>
            <a:r>
              <a:rPr lang="pt-BR" sz="1900" b="1" dirty="0">
                <a:solidFill>
                  <a:srgbClr val="E97132"/>
                </a:solidFill>
              </a:rPr>
              <a:t>Mesma ideia do analógico, agora no domínio digital — e já recebe fs</a:t>
            </a:r>
          </a:p>
          <a:p>
            <a:pPr marL="342900" lvl="0" indent="-342900">
              <a:spcBef>
                <a:spcPts val="300"/>
              </a:spcBef>
              <a:buFont typeface="Arial"/>
              <a:buChar char="•"/>
            </a:pPr>
            <a:r>
              <a:rPr lang="pt-BR" sz="1700" dirty="0"/>
              <a:t>Projeta um Butterworth IIR e devolve as seções biquad (SOS) prontas para implementar.</a:t>
            </a:r>
          </a:p>
          <a:p>
            <a:pPr marL="342900" lvl="0" indent="-342900">
              <a:spcBef>
                <a:spcPts val="300"/>
              </a:spcBef>
              <a:buFont typeface="Arial"/>
              <a:buChar char="•"/>
            </a:pPr>
            <a:r>
              <a:rPr lang="pt-BR" sz="1700" dirty="0"/>
              <a:t>biquad = filtro de 2ª ordem; quantidade de biquads = ordem / 2.</a:t>
            </a:r>
          </a:p>
          <a:p>
            <a:pPr>
              <a:spcBef>
                <a:spcPts val="400"/>
              </a:spcBef>
              <a:buNone/>
            </a:pPr>
            <a:r>
              <a:rPr lang="pt-BR" sz="1900" b="1" dirty="0">
                <a:solidFill>
                  <a:srgbClr val="E97132"/>
                </a:solidFill>
              </a:rPr>
              <a:t>Por que biquads e pré-distorção?</a:t>
            </a:r>
          </a:p>
          <a:p>
            <a:pPr marL="800100" lvl="1" indent="-342900">
              <a:spcBef>
                <a:spcPts val="300"/>
              </a:spcBef>
              <a:buFont typeface="Arial"/>
              <a:buChar char="–"/>
            </a:pPr>
            <a:r>
              <a:rPr lang="pt-BR" sz="1500" dirty="0"/>
              <a:t>Em ponto flutuante/fixo, cascatear biquads é numericamente estável (vs. um polinômio de ordem alta).</a:t>
            </a:r>
          </a:p>
          <a:p>
            <a:pPr marL="800100" lvl="1" indent="-342900">
              <a:spcBef>
                <a:spcPts val="300"/>
              </a:spcBef>
              <a:buFont typeface="Arial"/>
              <a:buChar char="–"/>
            </a:pPr>
            <a:r>
              <a:rPr lang="pt-BR" sz="1500" dirty="0"/>
              <a:t>Usa a transformada bilinear com pré-distorção da tangente: tan(ωc/2) corrige a fc para o valor certo em tempo discreto.</a:t>
            </a:r>
          </a:p>
          <a:p>
            <a:pPr>
              <a:spcBef>
                <a:spcPts val="400"/>
              </a:spcBef>
              <a:buNone/>
            </a:pPr>
            <a:r>
              <a:rPr lang="pt-BR" sz="1900" b="1" dirty="0">
                <a:solidFill>
                  <a:srgbClr val="E97132"/>
                </a:solidFill>
              </a:rPr>
              <a:t>Validações automáticas (evitam erro de projeto)</a:t>
            </a:r>
          </a:p>
          <a:p>
            <a:pPr marL="800100" lvl="1" indent="-342900">
              <a:spcBef>
                <a:spcPts val="300"/>
              </a:spcBef>
              <a:buFont typeface="Arial"/>
              <a:buChar char="–"/>
            </a:pPr>
            <a:r>
              <a:rPr lang="pt-BR" sz="1500" dirty="0"/>
              <a:t>ordem deve ser par e ≥ 2; 0 </a:t>
            </a:r>
          </a:p>
        </p:txBody>
      </p:sp>
    </p:spTree>
    <p:extLst>
      <p:ext uri="{BB962C8B-B14F-4D97-AF65-F5344CB8AC3E}">
        <p14:creationId xmlns:p14="http://schemas.microsoft.com/office/powerpoint/2010/main" val="793150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A190CB-F9F8-607D-1569-B55278A8A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>
                <a:solidFill>
                  <a:srgbClr val="156082"/>
                </a:solidFill>
              </a:rPr>
              <a:t>Princípio digital (1/2): a transformada bilinear</a:t>
            </a:r>
          </a:p>
        </p:txBody>
      </p:sp>
      <p:sp>
        <p:nvSpPr>
          <p:cNvPr id="200" name="formulaCard"/>
          <p:cNvSpPr/>
          <p:nvPr/>
        </p:nvSpPr>
        <p:spPr>
          <a:xfrm>
            <a:off x="1016000" y="2006600"/>
            <a:ext cx="10160000" cy="1676400"/>
          </a:xfrm>
          <a:prstGeom prst="roundRect">
            <a:avLst>
              <a:gd name="adj" fmla="val 8000"/>
            </a:avLst>
          </a:prstGeom>
          <a:solidFill>
            <a:srgbClr val="E9F1F4"/>
          </a:solidFill>
          <a:ln w="12700">
            <a:solidFill>
              <a:srgbClr val="156082"/>
            </a:solidFill>
          </a:ln>
        </p:spPr>
        <p:txBody>
          <a:bodyPr wrap="square" lIns="137160" tIns="73152" rIns="137160" bIns="73152" anchor="ctr"/>
          <a:lstStyle/>
          <a:p>
            <a:pPr algn="ctr">
              <a:spcBef>
                <a:spcPts val="500"/>
              </a:spcBef>
            </a:pPr>
            <a:r>
              <a:rPr lang="pt-BR" sz="2400" dirty="0">
                <a:solidFill>
                  <a:srgbClr val="1A1A1A"/>
                </a:solidFill>
              </a:rPr>
              <a:t>Ω  =  tan( ω / 2 )</a:t>
            </a:r>
          </a:p>
          <a:p>
            <a:pPr algn="ctr">
              <a:spcBef>
                <a:spcPts val="500"/>
              </a:spcBef>
            </a:pPr>
            <a:r>
              <a:rPr lang="pt-BR" sz="2000" dirty="0">
                <a:solidFill>
                  <a:srgbClr val="1A1A1A"/>
                </a:solidFill>
              </a:rPr>
              <a:t>onde   ω  =  2π f / f</a:t>
            </a:r>
            <a:r>
              <a:rPr lang="pt-BR" sz="1400" baseline="-25000" dirty="0">
                <a:solidFill>
                  <a:srgbClr val="1A1A1A"/>
                </a:solidFill>
              </a:rPr>
              <a:t>s</a:t>
            </a:r>
            <a:r>
              <a:rPr lang="pt-BR" sz="2000" dirty="0">
                <a:solidFill>
                  <a:srgbClr val="1A1A1A"/>
                </a:solidFill>
              </a:rPr>
              <a:t>    (frequência digital normalizada)</a:t>
            </a:r>
          </a:p>
        </p:txBody>
      </p:sp>
      <p:sp>
        <p:nvSpPr>
          <p:cNvPr id="201" name="explica"/>
          <p:cNvSpPr/>
          <p:nvPr/>
        </p:nvSpPr>
        <p:spPr>
          <a:xfrm>
            <a:off x="1016000" y="3962400"/>
            <a:ext cx="10160000" cy="2540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137160" tIns="73152" rIns="137160" bIns="73152" anchor="t"/>
          <a:lstStyle/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A bilinear converte o projeto analógico em digital, mas comprime o eixo de frequências.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A relação entre a frequência analógica Ω e a digital ω é não linear: perto de f</a:t>
            </a:r>
            <a:r>
              <a:rPr lang="pt-BR" sz="1100" baseline="-25000" dirty="0">
                <a:solidFill>
                  <a:srgbClr val="262626"/>
                </a:solidFill>
              </a:rPr>
              <a:t>s</a:t>
            </a:r>
            <a:r>
              <a:rPr lang="pt-BR" sz="1600" dirty="0">
                <a:solidFill>
                  <a:srgbClr val="262626"/>
                </a:solidFill>
              </a:rPr>
              <a:t>/2 a compressão é máxima.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Sem corrigir isso, a frequência de corte do filtro digital ficaria deslocada da desejada.</a:t>
            </a:r>
          </a:p>
          <a:p>
            <a:pPr marL="285750" indent="-285750">
              <a:spcBef>
                <a:spcPts val="6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Solução: resolver o Butterworth no espaço pré-distorcido tan(ω/2) — próximo slide.</a:t>
            </a:r>
          </a:p>
        </p:txBody>
      </p:sp>
    </p:spTree>
    <p:extLst>
      <p:ext uri="{BB962C8B-B14F-4D97-AF65-F5344CB8AC3E}">
        <p14:creationId xmlns:p14="http://schemas.microsoft.com/office/powerpoint/2010/main" val="1712879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168ED-7E0D-3117-FAB8-812AB9286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>
                <a:solidFill>
                  <a:srgbClr val="156082"/>
                </a:solidFill>
              </a:rPr>
              <a:t>Princípio digital (2/2): pré-distorção da tangente</a:t>
            </a:r>
          </a:p>
        </p:txBody>
      </p:sp>
      <p:sp>
        <p:nvSpPr>
          <p:cNvPr id="200" name="formulaCard"/>
          <p:cNvSpPr/>
          <p:nvPr/>
        </p:nvSpPr>
        <p:spPr>
          <a:xfrm>
            <a:off x="762000" y="1854200"/>
            <a:ext cx="10668000" cy="2540000"/>
          </a:xfrm>
          <a:prstGeom prst="roundRect">
            <a:avLst>
              <a:gd name="adj" fmla="val 8000"/>
            </a:avLst>
          </a:prstGeom>
          <a:solidFill>
            <a:srgbClr val="E9F1F4"/>
          </a:solidFill>
          <a:ln w="12700">
            <a:solidFill>
              <a:srgbClr val="156082"/>
            </a:solidFill>
          </a:ln>
        </p:spPr>
        <p:txBody>
          <a:bodyPr wrap="square" lIns="137160" tIns="73152" rIns="137160" bIns="73152" anchor="ctr"/>
          <a:lstStyle/>
          <a:p>
            <a:pPr algn="ctr">
              <a:spcBef>
                <a:spcPts val="400"/>
              </a:spcBef>
            </a:pPr>
            <a:r>
              <a:rPr lang="pt-BR" sz="2200" dirty="0">
                <a:solidFill>
                  <a:srgbClr val="1A1A1A"/>
                </a:solidFill>
              </a:rPr>
              <a:t>tan Ω</a:t>
            </a:r>
            <a:r>
              <a:rPr lang="pt-BR" sz="1400" baseline="-25000" dirty="0">
                <a:solidFill>
                  <a:srgbClr val="1A1A1A"/>
                </a:solidFill>
              </a:rPr>
              <a:t>d</a:t>
            </a:r>
            <a:r>
              <a:rPr lang="pt-BR" sz="2200" dirty="0">
                <a:solidFill>
                  <a:srgbClr val="1A1A1A"/>
                </a:solidFill>
              </a:rPr>
              <a:t>  =  tan( π f</a:t>
            </a:r>
            <a:r>
              <a:rPr lang="pt-BR" sz="1400" baseline="-25000" dirty="0">
                <a:solidFill>
                  <a:srgbClr val="1A1A1A"/>
                </a:solidFill>
              </a:rPr>
              <a:t>des</a:t>
            </a:r>
            <a:r>
              <a:rPr lang="pt-BR" sz="2200" dirty="0">
                <a:solidFill>
                  <a:srgbClr val="1A1A1A"/>
                </a:solidFill>
              </a:rPr>
              <a:t> / f</a:t>
            </a:r>
            <a:r>
              <a:rPr lang="pt-BR" sz="1400" baseline="-25000" dirty="0">
                <a:solidFill>
                  <a:srgbClr val="1A1A1A"/>
                </a:solidFill>
              </a:rPr>
              <a:t>s</a:t>
            </a:r>
            <a:r>
              <a:rPr lang="pt-BR" sz="2200" dirty="0">
                <a:solidFill>
                  <a:srgbClr val="1A1A1A"/>
                </a:solidFill>
              </a:rPr>
              <a:t> )</a:t>
            </a:r>
          </a:p>
          <a:p>
            <a:pPr algn="ctr">
              <a:spcBef>
                <a:spcPts val="400"/>
              </a:spcBef>
            </a:pPr>
            <a:r>
              <a:rPr lang="pt-BR" sz="2200" b="1" dirty="0">
                <a:solidFill>
                  <a:srgbClr val="156082"/>
                </a:solidFill>
              </a:rPr>
              <a:t>tan Ω</a:t>
            </a:r>
            <a:r>
              <a:rPr lang="pt-BR" sz="1400" baseline="-25000" dirty="0">
                <a:solidFill>
                  <a:srgbClr val="156082"/>
                </a:solidFill>
              </a:rPr>
              <a:t>c</a:t>
            </a:r>
            <a:r>
              <a:rPr lang="pt-BR" sz="2200" b="1" dirty="0">
                <a:solidFill>
                  <a:srgbClr val="156082"/>
                </a:solidFill>
              </a:rPr>
              <a:t>  =  tan Ω</a:t>
            </a:r>
            <a:r>
              <a:rPr lang="pt-BR" sz="1400" baseline="-25000" dirty="0">
                <a:solidFill>
                  <a:srgbClr val="156082"/>
                </a:solidFill>
              </a:rPr>
              <a:t>d</a:t>
            </a:r>
            <a:r>
              <a:rPr lang="pt-BR" sz="2200" b="1" dirty="0">
                <a:solidFill>
                  <a:srgbClr val="156082"/>
                </a:solidFill>
              </a:rPr>
              <a:t>  /  A      (passa-baixa)</a:t>
            </a:r>
          </a:p>
          <a:p>
            <a:pPr algn="ctr">
              <a:spcBef>
                <a:spcPts val="400"/>
              </a:spcBef>
            </a:pPr>
            <a:r>
              <a:rPr lang="pt-BR" sz="2200" dirty="0">
                <a:solidFill>
                  <a:srgbClr val="1A1A1A"/>
                </a:solidFill>
              </a:rPr>
              <a:t>ω</a:t>
            </a:r>
            <a:r>
              <a:rPr lang="pt-BR" sz="1400" baseline="-25000" dirty="0">
                <a:solidFill>
                  <a:srgbClr val="1A1A1A"/>
                </a:solidFill>
              </a:rPr>
              <a:t>c</a:t>
            </a:r>
            <a:r>
              <a:rPr lang="pt-BR" sz="2200" dirty="0">
                <a:solidFill>
                  <a:srgbClr val="1A1A1A"/>
                </a:solidFill>
              </a:rPr>
              <a:t>  =  2 · arctan( tan Ω</a:t>
            </a:r>
            <a:r>
              <a:rPr lang="pt-BR" sz="1400" baseline="-25000" dirty="0">
                <a:solidFill>
                  <a:srgbClr val="1A1A1A"/>
                </a:solidFill>
              </a:rPr>
              <a:t>c</a:t>
            </a:r>
            <a:r>
              <a:rPr lang="pt-BR" sz="2200" dirty="0">
                <a:solidFill>
                  <a:srgbClr val="1A1A1A"/>
                </a:solidFill>
              </a:rPr>
              <a:t> )        f</a:t>
            </a:r>
            <a:r>
              <a:rPr lang="pt-BR" sz="1400" baseline="-25000" dirty="0">
                <a:solidFill>
                  <a:srgbClr val="1A1A1A"/>
                </a:solidFill>
              </a:rPr>
              <a:t>c</a:t>
            </a:r>
            <a:r>
              <a:rPr lang="pt-BR" sz="2200" dirty="0">
                <a:solidFill>
                  <a:srgbClr val="1A1A1A"/>
                </a:solidFill>
              </a:rPr>
              <a:t>  =  ω</a:t>
            </a:r>
            <a:r>
              <a:rPr lang="pt-BR" sz="1400" baseline="-25000" dirty="0">
                <a:solidFill>
                  <a:srgbClr val="1A1A1A"/>
                </a:solidFill>
              </a:rPr>
              <a:t>c</a:t>
            </a:r>
            <a:r>
              <a:rPr lang="pt-BR" sz="2200" dirty="0">
                <a:solidFill>
                  <a:srgbClr val="1A1A1A"/>
                </a:solidFill>
              </a:rPr>
              <a:t> · f</a:t>
            </a:r>
            <a:r>
              <a:rPr lang="pt-BR" sz="1400" baseline="-25000" dirty="0">
                <a:solidFill>
                  <a:srgbClr val="1A1A1A"/>
                </a:solidFill>
              </a:rPr>
              <a:t>s</a:t>
            </a:r>
            <a:r>
              <a:rPr lang="pt-BR" sz="2200" dirty="0">
                <a:solidFill>
                  <a:srgbClr val="1A1A1A"/>
                </a:solidFill>
              </a:rPr>
              <a:t> / 2π</a:t>
            </a:r>
          </a:p>
        </p:txBody>
      </p:sp>
      <p:sp>
        <p:nvSpPr>
          <p:cNvPr id="201" name="explica"/>
          <p:cNvSpPr/>
          <p:nvPr/>
        </p:nvSpPr>
        <p:spPr>
          <a:xfrm>
            <a:off x="762000" y="4521200"/>
            <a:ext cx="10668000" cy="2032000"/>
          </a:xfrm>
          <a:prstGeom prst="roundRect">
            <a:avLst>
              <a:gd name="adj" fmla="val 8000"/>
            </a:avLst>
          </a:prstGeom>
          <a:noFill/>
          <a:ln>
            <a:noFill/>
          </a:ln>
        </p:spPr>
        <p:txBody>
          <a:bodyPr wrap="square" lIns="137160" tIns="73152" rIns="137160" bIns="73152" anchor="t"/>
          <a:lstStyle/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1) Pré-distorce a frequência desejada para o domínio analógico com tan(·).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2) Aplica ali a mesma relação de Butterworth — divide pelo fator A (o do slide anterior).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3) Volta ao digital com arctan (“anti-warp”) e calcula f</a:t>
            </a:r>
            <a:r>
              <a:rPr lang="pt-BR" sz="1100" baseline="-25000" dirty="0">
                <a:solidFill>
                  <a:srgbClr val="262626"/>
                </a:solidFill>
              </a:rPr>
              <a:t>c</a:t>
            </a:r>
            <a:r>
              <a:rPr lang="pt-BR" sz="1600" dirty="0">
                <a:solidFill>
                  <a:srgbClr val="262626"/>
                </a:solidFill>
              </a:rPr>
              <a:t>.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pt-BR" sz="1600" dirty="0">
                <a:solidFill>
                  <a:srgbClr val="262626"/>
                </a:solidFill>
              </a:rPr>
              <a:t>Resultado: a magnitude-alvo é atingida exatamente em fDesejada depois da bilinear.</a:t>
            </a:r>
          </a:p>
        </p:txBody>
      </p:sp>
    </p:spTree>
    <p:extLst>
      <p:ext uri="{BB962C8B-B14F-4D97-AF65-F5344CB8AC3E}">
        <p14:creationId xmlns:p14="http://schemas.microsoft.com/office/powerpoint/2010/main" val="2634015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4FA756-4BCE-ACD8-4326-1C440E575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800" b="1" dirty="0">
                <a:solidFill>
                  <a:srgbClr val="E97132"/>
                </a:solidFill>
              </a:rPr>
              <a:t>findDigitalFilterIIRBiquadsByTargetFreq — como usar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734ADF-F216-5646-8D5E-095CC3D21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500"/>
              </a:spcBef>
              <a:buNone/>
            </a:pPr>
            <a:r>
              <a:rPr lang="pt-BR" sz="1800" b="1" dirty="0">
                <a:solidFill>
                  <a:srgbClr val="E97132"/>
                </a:solidFill>
              </a:rPr>
              <a:t>Opção A — em Python</a:t>
            </a:r>
          </a:p>
          <a:p>
            <a:pPr marL="91440" indent="0">
              <a:buNone/>
            </a:pPr>
            <a:r>
              <a:rPr lang="pt-BR" sz="1400" dirty="0">
                <a:latin typeface="Consolas"/>
              </a:rPr>
              <a:t>res = findDigitalFilterIIRBiquadsByTargetFreq(</a:t>
            </a:r>
          </a:p>
          <a:p>
            <a:pPr marL="91440" indent="0">
              <a:buNone/>
            </a:pPr>
            <a:r>
              <a:rPr lang="pt-BR" sz="1400" dirty="0">
                <a:latin typeface="Consolas"/>
              </a:rPr>
              <a:t>    fDesejada=100, ordem=10, fs=1600,</a:t>
            </a:r>
          </a:p>
          <a:p>
            <a:pPr marL="91440" indent="0">
              <a:buNone/>
            </a:pPr>
            <a:r>
              <a:rPr lang="pt-BR" sz="1400" dirty="0">
                <a:latin typeface="Consolas"/>
              </a:rPr>
              <a:t>    filterType='lowpass', desvio=0.05, isBP=True)</a:t>
            </a:r>
          </a:p>
          <a:p>
            <a:pPr marL="91440" indent="0">
              <a:buNone/>
            </a:pPr>
            <a:r>
              <a:rPr lang="pt-BR" sz="1400" dirty="0">
                <a:latin typeface="Consolas"/>
              </a:rPr>
              <a:t>print(res.biquads_df2t)   # coeficientes prontos</a:t>
            </a:r>
          </a:p>
          <a:p>
            <a:pPr>
              <a:spcBef>
                <a:spcPts val="500"/>
              </a:spcBef>
              <a:buNone/>
            </a:pPr>
            <a:r>
              <a:rPr lang="pt-BR" sz="1800" b="1" dirty="0">
                <a:solidFill>
                  <a:srgbClr val="E97132"/>
                </a:solidFill>
              </a:rPr>
              <a:t>Opção B — linha de comando</a:t>
            </a:r>
          </a:p>
          <a:p>
            <a:pPr marL="91440" indent="0">
              <a:buNone/>
            </a:pPr>
            <a:r>
              <a:rPr lang="pt-BR" sz="1400" dirty="0">
                <a:latin typeface="Consolas"/>
              </a:rPr>
              <a:t>python ...IIRBiquads.py --fDesejada 100 --ordem 10 \</a:t>
            </a:r>
          </a:p>
          <a:p>
            <a:pPr marL="91440" indent="0">
              <a:buNone/>
            </a:pPr>
            <a:r>
              <a:rPr lang="pt-BR" sz="1400" dirty="0">
                <a:latin typeface="Consolas"/>
              </a:rPr>
              <a:t>    --fs 1600 --show-c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pt-BR" sz="1600" dirty="0"/>
              <a:t>Flags úteis: --show-sos, --show-c (gera array em C), --c-only, --no-plot, --casas N.</a:t>
            </a:r>
          </a:p>
          <a:p>
            <a:pPr>
              <a:spcBef>
                <a:spcPts val="500"/>
              </a:spcBef>
              <a:buNone/>
            </a:pPr>
            <a:r>
              <a:rPr lang="pt-BR" sz="1800" b="1" dirty="0">
                <a:solidFill>
                  <a:srgbClr val="E97132"/>
                </a:solidFill>
              </a:rPr>
              <a:t>Exportar para firmware</a:t>
            </a:r>
          </a:p>
          <a:p>
            <a:pPr marL="342900" indent="-342900">
              <a:spcBef>
                <a:spcPts val="300"/>
              </a:spcBef>
              <a:buFont typeface="Arial"/>
              <a:buChar char="•"/>
            </a:pPr>
            <a:r>
              <a:rPr lang="pt-BR" sz="1600" dirty="0"/>
              <a:t>formatBiquadsForC(res) gera o array const float[ ][5] em DF2T — copie direto para o DSP.</a:t>
            </a:r>
          </a:p>
        </p:txBody>
      </p:sp>
    </p:spTree>
    <p:extLst>
      <p:ext uri="{BB962C8B-B14F-4D97-AF65-F5344CB8AC3E}">
        <p14:creationId xmlns:p14="http://schemas.microsoft.com/office/powerpoint/2010/main" val="3751462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A98F66-A22C-4F73-922E-C5F7A1DFA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>
                <a:solidFill>
                  <a:srgbClr val="156082"/>
                </a:solidFill>
              </a:rPr>
              <a:t>Exemplo numérico de ponta a ponta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017874-577A-07B0-E3A6-B423F25CE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1500" i="1" dirty="0">
                <a:solidFill>
                  <a:srgbClr val="404040"/>
                </a:solidFill>
              </a:rPr>
              <a:t>Cenário: medir um sinal cuja banda de interesse vai até 100 Hz.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pt-BR" sz="1500" b="1" dirty="0">
                <a:solidFill>
                  <a:srgbClr val="156082"/>
                </a:solidFill>
              </a:rPr>
              <a:t>1 · Especificar o anti-aliasing (analógico)</a:t>
            </a:r>
          </a:p>
          <a:p>
            <a:pPr marL="171450" indent="-171450">
              <a:buFont typeface="Arial"/>
              <a:buChar char="•"/>
            </a:pPr>
            <a:r>
              <a:rPr lang="pt-BR" sz="1400" dirty="0"/>
              <a:t>findAnalogFilterByTargetFreq(fDesejada=100, ordem=2, lowpass, desvio=0.05, isBP=True)</a:t>
            </a:r>
          </a:p>
          <a:p>
            <a:pPr marL="171450" indent="-171450">
              <a:buFont typeface="Arial"/>
              <a:buChar char="•"/>
            </a:pPr>
            <a:r>
              <a:rPr lang="pt-BR" sz="1400" dirty="0"/>
              <a:t>Retorna: fc ≈ </a:t>
            </a:r>
            <a:r>
              <a:rPr lang="pt-BR" sz="1400" b="1" dirty="0">
                <a:solidFill>
                  <a:srgbClr val="E97132"/>
                </a:solidFill>
              </a:rPr>
              <a:t>174,4 Hz</a:t>
            </a:r>
            <a:r>
              <a:rPr lang="pt-BR" sz="1400" dirty="0"/>
              <a:t>  ·  f. complementar ≈ </a:t>
            </a:r>
            <a:r>
              <a:rPr lang="pt-BR" sz="1400" b="1" dirty="0">
                <a:solidFill>
                  <a:srgbClr val="E97132"/>
                </a:solidFill>
              </a:rPr>
              <a:t>779,6 Hz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pt-BR" sz="1500" b="1" dirty="0">
                <a:solidFill>
                  <a:srgbClr val="156082"/>
                </a:solidFill>
              </a:rPr>
              <a:t>2 · Definir a frequência de amostragem</a:t>
            </a:r>
          </a:p>
          <a:p>
            <a:pPr marL="171450" indent="-171450">
              <a:buFont typeface="Arial"/>
              <a:buChar char="•"/>
            </a:pPr>
            <a:r>
              <a:rPr lang="pt-BR" sz="1400" dirty="0"/>
              <a:t>fs = 2 × f. complementar = 2 × 779,6 ≈ </a:t>
            </a:r>
            <a:r>
              <a:rPr lang="pt-BR" sz="1400" b="1" dirty="0">
                <a:solidFill>
                  <a:srgbClr val="E97132"/>
                </a:solidFill>
              </a:rPr>
              <a:t>1559 Hz</a:t>
            </a:r>
            <a:r>
              <a:rPr lang="pt-BR" sz="1400" dirty="0"/>
              <a:t> → arredonda para </a:t>
            </a:r>
            <a:r>
              <a:rPr lang="pt-BR" sz="1400" b="1" dirty="0">
                <a:solidFill>
                  <a:srgbClr val="156082"/>
                </a:solidFill>
              </a:rPr>
              <a:t>1600 Hz</a:t>
            </a:r>
            <a:r>
              <a:rPr lang="pt-BR" sz="1400" dirty="0"/>
              <a:t> (margem)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pt-BR" sz="1500" b="1" dirty="0">
                <a:solidFill>
                  <a:srgbClr val="156082"/>
                </a:solidFill>
              </a:rPr>
              <a:t>3 · Dimensionar o circuito (Sallen-Key, R = 1 kΩ)</a:t>
            </a:r>
          </a:p>
          <a:p>
            <a:pPr marL="171450" indent="-171450">
              <a:buFont typeface="Arial"/>
              <a:buChar char="•"/>
            </a:pPr>
            <a:r>
              <a:rPr lang="pt-BR" sz="1400" dirty="0"/>
              <a:t>C = 1 / (2π · fc · R) ≈ </a:t>
            </a:r>
            <a:r>
              <a:rPr lang="pt-BR" sz="1400" b="1" dirty="0">
                <a:solidFill>
                  <a:srgbClr val="E97132"/>
                </a:solidFill>
              </a:rPr>
              <a:t>912,5 nF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pt-BR" sz="1500" b="1" dirty="0">
                <a:solidFill>
                  <a:srgbClr val="156082"/>
                </a:solidFill>
              </a:rPr>
              <a:t>4 · Projetar o filtro digital IIR</a:t>
            </a:r>
          </a:p>
          <a:p>
            <a:pPr marL="171450" indent="-171450">
              <a:buFont typeface="Arial"/>
              <a:buChar char="•"/>
            </a:pPr>
            <a:r>
              <a:rPr lang="pt-BR" sz="1400" dirty="0"/>
              <a:t>findDigitalFilterIIRBiquadsByTargetFreq(fDesejada=100, ordem=10, fs=1600)</a:t>
            </a:r>
          </a:p>
          <a:p>
            <a:pPr marL="171450" indent="-171450">
              <a:buFont typeface="Arial"/>
              <a:buChar char="•"/>
            </a:pPr>
            <a:r>
              <a:rPr lang="pt-BR" sz="1400" dirty="0"/>
              <a:t>Retorna: </a:t>
            </a:r>
            <a:r>
              <a:rPr lang="pt-BR" sz="1400" b="1" dirty="0">
                <a:solidFill>
                  <a:srgbClr val="E97132"/>
                </a:solidFill>
              </a:rPr>
              <a:t>5 biquads</a:t>
            </a:r>
            <a:r>
              <a:rPr lang="pt-BR" sz="1400" dirty="0"/>
              <a:t>  ·  fc digital ≈ 111,4 Hz  ·  coeficientes prontos para DF2T em C</a:t>
            </a:r>
          </a:p>
        </p:txBody>
      </p:sp>
    </p:spTree>
    <p:extLst>
      <p:ext uri="{BB962C8B-B14F-4D97-AF65-F5344CB8AC3E}">
        <p14:creationId xmlns:p14="http://schemas.microsoft.com/office/powerpoint/2010/main" val="112039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0D8234-E1E2-6D33-C84F-095BAD1C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>
                <a:solidFill>
                  <a:srgbClr val="156082"/>
                </a:solidFill>
              </a:rPr>
              <a:t>Resumo e boas práticas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25D60D-91E0-A870-2BA2-5D8D33701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pt-BR" sz="1600" b="1" dirty="0">
                <a:solidFill>
                  <a:srgbClr val="156082"/>
                </a:solidFill>
              </a:rPr>
              <a:t>Anti-aliasing primeiro: </a:t>
            </a:r>
            <a:r>
              <a:rPr lang="pt-BR" sz="1600" dirty="0"/>
              <a:t>a especificação do filtro analógico (banda de interesse + desvio) é o ponto de partida do projeto.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pt-BR" sz="1600" b="1" dirty="0">
                <a:solidFill>
                  <a:srgbClr val="156082"/>
                </a:solidFill>
              </a:rPr>
              <a:t>fs = 2 × f. complementar: </a:t>
            </a:r>
            <a:r>
              <a:rPr lang="pt-BR" sz="1600" dirty="0"/>
              <a:t>a frequência onde o sinal já está suficientemente atenuado vira a metade de Nyquist.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pt-BR" sz="1600" b="1" dirty="0">
                <a:solidFill>
                  <a:srgbClr val="156082"/>
                </a:solidFill>
              </a:rPr>
              <a:t>Arredonde fs para cima: </a:t>
            </a:r>
            <a:r>
              <a:rPr lang="pt-BR" sz="1600" dirty="0"/>
              <a:t>escolher um fs comercial maior que o mínimo dá margem de segurança contra aliasing.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pt-BR" sz="1600" b="1" dirty="0">
                <a:solidFill>
                  <a:srgbClr val="156082"/>
                </a:solidFill>
              </a:rPr>
              <a:t>Ordem par no IIR: </a:t>
            </a:r>
            <a:r>
              <a:rPr lang="pt-BR" sz="1600" dirty="0"/>
              <a:t>o filtro digital é montado em biquads (ordem ÷ 2 seções), estável e fácil de implementar.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pt-BR" sz="1600" b="1" dirty="0">
                <a:solidFill>
                  <a:srgbClr val="156082"/>
                </a:solidFill>
              </a:rPr>
              <a:t>Pré-distorção da tangente: </a:t>
            </a:r>
            <a:r>
              <a:rPr lang="pt-BR" sz="1600" dirty="0"/>
              <a:t>garante que a fc digital corresponda à fc analógica desejada após a transformada bilinear.</a:t>
            </a:r>
          </a:p>
          <a:p>
            <a:pPr marL="285750" indent="-285750">
              <a:spcBef>
                <a:spcPts val="500"/>
              </a:spcBef>
              <a:buFont typeface="Arial"/>
              <a:buChar char="•"/>
            </a:pPr>
            <a:r>
              <a:rPr lang="pt-BR" sz="1600" b="1" dirty="0">
                <a:solidFill>
                  <a:srgbClr val="156082"/>
                </a:solidFill>
              </a:rPr>
              <a:t>Exporte para C (DF2T): </a:t>
            </a:r>
            <a:r>
              <a:rPr lang="pt-BR" sz="1600" dirty="0"/>
              <a:t>formatBiquadsForC entrega os coeficientes prontos para rodar no microcontrolador/DSP.</a:t>
            </a:r>
          </a:p>
        </p:txBody>
      </p:sp>
    </p:spTree>
    <p:extLst>
      <p:ext uri="{BB962C8B-B14F-4D97-AF65-F5344CB8AC3E}">
        <p14:creationId xmlns:p14="http://schemas.microsoft.com/office/powerpoint/2010/main" val="8726251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11270DD-170A-46E8-B36E-1AEE60BCA2F3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a7553e0a-dcc8-41ba-a091-a3d4399d34d5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66EF44F3-2ED4-47F9-B77A-83BB24B3C34F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09632505-c009-4f1d-bc03-3ded186cebf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1670</Words>
  <Application>Microsoft Office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Consolas</vt:lpstr>
      <vt:lpstr>Tema do Office</vt:lpstr>
      <vt:lpstr>Projeto de Filtros e Escolha da Frequência de Amostragem</vt:lpstr>
      <vt:lpstr>O problema: aliasing e o teorema de Nyquist</vt:lpstr>
      <vt:lpstr>Dois scripts, dois domínios</vt:lpstr>
      <vt:lpstr>findAnalogFilterByTargetFreq — o que faz</vt:lpstr>
      <vt:lpstr>Princípio analógico (1/2): a resposta de Butterworth</vt:lpstr>
      <vt:lpstr>Princípio analógico (2/2): isolando a frequência de corte</vt:lpstr>
      <vt:lpstr>As frequências que o script analógico devolve</vt:lpstr>
      <vt:lpstr>findAnalogFilterByTargetFreq — como usar</vt:lpstr>
      <vt:lpstr>O fluxo central: definir fs a partir do anti-aliasing</vt:lpstr>
      <vt:lpstr>findDigitalFilterIIRBiquadsByTargetFreq — o que faz</vt:lpstr>
      <vt:lpstr>Princípio digital (1/2): a transformada bilinear</vt:lpstr>
      <vt:lpstr>Princípio digital (2/2): pré-distorção da tangente</vt:lpstr>
      <vt:lpstr>findDigitalFilterIIRBiquadsByTargetFreq — como usar</vt:lpstr>
      <vt:lpstr>Exemplo numérico de ponta a ponta</vt:lpstr>
      <vt:lpstr>Resumo e boas práticas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Silva de Morais</dc:creator>
  <cp:lastModifiedBy>Josué Silva de Morais</cp:lastModifiedBy>
  <cp:revision>2</cp:revision>
  <dcterms:created xsi:type="dcterms:W3CDTF">2026-06-24T20:52:17Z</dcterms:created>
  <dcterms:modified xsi:type="dcterms:W3CDTF">2026-06-25T09:21:07Z</dcterms:modified>
</cp:coreProperties>
</file>